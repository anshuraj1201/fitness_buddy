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58" r:id="rId4"/>
    <p:sldId id="259" r:id="rId5"/>
    <p:sldId id="260" r:id="rId6"/>
    <p:sldId id="287" r:id="rId7"/>
    <p:sldId id="290" r:id="rId8"/>
    <p:sldId id="263" r:id="rId9"/>
    <p:sldId id="289" r:id="rId10"/>
    <p:sldId id="265" r:id="rId11"/>
    <p:sldId id="266" r:id="rId12"/>
    <p:sldId id="267" r:id="rId13"/>
    <p:sldId id="268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63CFB-1B3E-38DD-E222-E26318452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650640-66D7-C882-5811-4A7021446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4299D-BBD3-5657-901A-33180AC5D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B26ECA-C9B8-D986-7EDD-8062783018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59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1630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shishraj-hub/Fitness_Buddy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039890768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Anshu Raj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anshuraj12012007@gmail.com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8789407443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[ Healthcare /Fitness 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US" sz="2400" b="1" dirty="0">
                <a:highlight>
                  <a:srgbClr val="FFFF00"/>
                </a:highlight>
              </a:rPr>
              <a:t>[</a:t>
            </a:r>
            <a:r>
              <a:rPr 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Times New Roman"/>
                <a:cs typeface="Times New Roman"/>
                <a:sym typeface="Times New Roman"/>
              </a:rPr>
              <a:t>Fitness Buddy</a:t>
            </a:r>
            <a:r>
              <a:rPr lang="en-US" sz="2400" b="1" dirty="0">
                <a:highlight>
                  <a:srgbClr val="FFFF00"/>
                </a:highlight>
              </a:rPr>
              <a:t>]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0879D6-FC99-46DD-360B-88B09CBE2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831" y="3594211"/>
            <a:ext cx="924693" cy="11044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The Challenge &amp; Objective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63040"/>
            <a:ext cx="5486400" cy="39014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63040"/>
            <a:ext cx="73152" cy="39014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670560" y="1560576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6B35"/>
                </a:solidFill>
              </a:rPr>
              <a:t>⚠️  The Challenge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70560" y="2072640"/>
            <a:ext cx="487680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Lack of personalized fitness guidance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Time constraints and rigid schedules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Inconsistent motivation &amp; no accountability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Expensive subscriptions &amp; consultations</a:t>
            </a:r>
            <a:endParaRPr lang="en-US" sz="1533" dirty="0"/>
          </a:p>
        </p:txBody>
      </p:sp>
      <p:sp>
        <p:nvSpPr>
          <p:cNvPr id="10" name="Shape 8"/>
          <p:cNvSpPr/>
          <p:nvPr/>
        </p:nvSpPr>
        <p:spPr>
          <a:xfrm>
            <a:off x="6278880" y="1463040"/>
            <a:ext cx="5486400" cy="39014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Shape 9"/>
          <p:cNvSpPr/>
          <p:nvPr/>
        </p:nvSpPr>
        <p:spPr>
          <a:xfrm>
            <a:off x="6278880" y="1463040"/>
            <a:ext cx="73152" cy="39014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6522720" y="1560576"/>
            <a:ext cx="4998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0B4D8"/>
                </a:solidFill>
              </a:rPr>
              <a:t>🎯  The Objective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6522720" y="2072640"/>
            <a:ext cx="4998720" cy="2072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Recommends home workouts based on user goals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Provides beginner-friendly nutrition guidance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Delivers daily motivation &amp; habit encouragement</a:t>
            </a:r>
            <a:endParaRPr lang="en-US" sz="1533" dirty="0"/>
          </a:p>
          <a:p>
            <a:pPr marL="457189" indent="-457189">
              <a:lnSpc>
                <a:spcPct val="130000"/>
              </a:lnSpc>
              <a:buSzPct val="100000"/>
              <a:buChar char="•"/>
            </a:pPr>
            <a:r>
              <a:rPr lang="en-US" sz="1533" dirty="0">
                <a:solidFill>
                  <a:srgbClr val="F0F4F8"/>
                </a:solidFill>
              </a:rPr>
              <a:t>Adapts to age, activity level &amp; diet preferences</a:t>
            </a:r>
            <a:endParaRPr lang="en-US" sz="1533" dirty="0"/>
          </a:p>
        </p:txBody>
      </p:sp>
      <p:sp>
        <p:nvSpPr>
          <p:cNvPr id="14" name="Shape 12"/>
          <p:cNvSpPr/>
          <p:nvPr/>
        </p:nvSpPr>
        <p:spPr>
          <a:xfrm>
            <a:off x="426720" y="5547360"/>
            <a:ext cx="2682240" cy="1097280"/>
          </a:xfrm>
          <a:prstGeom prst="rect">
            <a:avLst/>
          </a:prstGeom>
          <a:solidFill>
            <a:srgbClr val="1B2A3B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6720" y="5583936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6B35"/>
                </a:solidFill>
              </a:rPr>
              <a:t>3B+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6720" y="607161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AADCA"/>
                </a:solidFill>
              </a:rPr>
              <a:t>People lack fitness guidance</a:t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3352800" y="5547360"/>
            <a:ext cx="2682240" cy="109728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2800" y="5583936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0B4D8"/>
                </a:solidFill>
              </a:rPr>
              <a:t>$100B+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352800" y="607161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AADCA"/>
                </a:solidFill>
              </a:rPr>
              <a:t>Global fitness market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6278880" y="5547360"/>
            <a:ext cx="2682240" cy="1097280"/>
          </a:xfrm>
          <a:prstGeom prst="rect">
            <a:avLst/>
          </a:prstGeom>
          <a:solidFill>
            <a:srgbClr val="1B2A3B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880" y="5583936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FFD166"/>
                </a:solidFill>
              </a:rPr>
              <a:t>70%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78880" y="607161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AADCA"/>
                </a:solidFill>
              </a:rPr>
              <a:t>Quit plans in 3 weeks</a:t>
            </a:r>
            <a:endParaRPr lang="en-US" sz="1133" dirty="0"/>
          </a:p>
        </p:txBody>
      </p:sp>
      <p:sp>
        <p:nvSpPr>
          <p:cNvPr id="23" name="Shape 21"/>
          <p:cNvSpPr/>
          <p:nvPr/>
        </p:nvSpPr>
        <p:spPr>
          <a:xfrm>
            <a:off x="9204960" y="5547360"/>
            <a:ext cx="2682240" cy="1097280"/>
          </a:xfrm>
          <a:prstGeom prst="rect">
            <a:avLst/>
          </a:prstGeom>
          <a:solidFill>
            <a:srgbClr val="1B2A3B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4960" y="5583936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06D6A0"/>
                </a:solidFill>
              </a:rPr>
              <a:t>1 Agent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04960" y="6071616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AADCA"/>
                </a:solidFill>
              </a:rPr>
              <a:t>Solves it all with AI</a:t>
            </a:r>
            <a:endParaRPr lang="en-US" sz="11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072640" cy="390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0726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TECHNOLOGY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9753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Technology Stack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6304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63040"/>
            <a:ext cx="73152" cy="225552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731264"/>
            <a:ext cx="512064" cy="5120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55776" y="168249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IBM watsonx Orchestrate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255776" y="207264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00B4D8"/>
                </a:solidFill>
              </a:rPr>
              <a:t>Primary Platform</a:t>
            </a:r>
            <a:endParaRPr lang="en-US" sz="1133" dirty="0"/>
          </a:p>
        </p:txBody>
      </p:sp>
      <p:sp>
        <p:nvSpPr>
          <p:cNvPr id="11" name="Text 8"/>
          <p:cNvSpPr/>
          <p:nvPr/>
        </p:nvSpPr>
        <p:spPr>
          <a:xfrm>
            <a:off x="646176" y="246278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Single AI agent deployment with behavior instructions, conversation management &amp; web chat embed.</a:t>
            </a:r>
            <a:endParaRPr lang="en-US" sz="1133" dirty="0"/>
          </a:p>
        </p:txBody>
      </p:sp>
      <p:sp>
        <p:nvSpPr>
          <p:cNvPr id="12" name="Shape 9"/>
          <p:cNvSpPr/>
          <p:nvPr/>
        </p:nvSpPr>
        <p:spPr>
          <a:xfrm>
            <a:off x="4328160" y="146304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328160" y="1463040"/>
            <a:ext cx="73152" cy="2255520"/>
          </a:xfrm>
          <a:prstGeom prst="rect">
            <a:avLst/>
          </a:prstGeom>
          <a:solidFill>
            <a:srgbClr val="90E0E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616" y="1731264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57216" y="168249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GPT-OSS-120B (OpenAI)</a:t>
            </a: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157216" y="207264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90E0EF"/>
                </a:solidFill>
              </a:rPr>
              <a:t>Foundation Model</a:t>
            </a:r>
            <a:endParaRPr lang="en-US" sz="1133" dirty="0"/>
          </a:p>
        </p:txBody>
      </p:sp>
      <p:sp>
        <p:nvSpPr>
          <p:cNvPr id="17" name="Text 13"/>
          <p:cNvSpPr/>
          <p:nvPr/>
        </p:nvSpPr>
        <p:spPr>
          <a:xfrm>
            <a:off x="4547616" y="246278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Powers natural language understanding, personalized fitness plan generation &amp; motivational responses.</a:t>
            </a:r>
            <a:endParaRPr lang="en-US" sz="1133" dirty="0"/>
          </a:p>
        </p:txBody>
      </p:sp>
      <p:sp>
        <p:nvSpPr>
          <p:cNvPr id="18" name="Shape 14"/>
          <p:cNvSpPr/>
          <p:nvPr/>
        </p:nvSpPr>
        <p:spPr>
          <a:xfrm>
            <a:off x="8229600" y="146304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0" y="1463040"/>
            <a:ext cx="73152" cy="2255520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731264"/>
            <a:ext cx="512064" cy="5120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58656" y="168249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IBM Cloud Lite</a:t>
            </a: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9058656" y="207264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FFD166"/>
                </a:solidFill>
              </a:rPr>
              <a:t>Infrastructure</a:t>
            </a:r>
            <a:endParaRPr lang="en-US" sz="1133" dirty="0"/>
          </a:p>
        </p:txBody>
      </p:sp>
      <p:sp>
        <p:nvSpPr>
          <p:cNvPr id="23" name="Text 18"/>
          <p:cNvSpPr/>
          <p:nvPr/>
        </p:nvSpPr>
        <p:spPr>
          <a:xfrm>
            <a:off x="8449056" y="246278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Free-tier cloud hosting with IAM security, API management in au-syd (Sydney) region.</a:t>
            </a:r>
            <a:endParaRPr lang="en-US" sz="1133" dirty="0"/>
          </a:p>
        </p:txBody>
      </p:sp>
      <p:sp>
        <p:nvSpPr>
          <p:cNvPr id="24" name="Shape 19"/>
          <p:cNvSpPr/>
          <p:nvPr/>
        </p:nvSpPr>
        <p:spPr>
          <a:xfrm>
            <a:off x="426720" y="396240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5" name="Shape 20"/>
          <p:cNvSpPr/>
          <p:nvPr/>
        </p:nvSpPr>
        <p:spPr>
          <a:xfrm>
            <a:off x="426720" y="3962400"/>
            <a:ext cx="73152" cy="225552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76" y="4230624"/>
            <a:ext cx="512064" cy="5120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255776" y="418185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HTML + JavaScript</a:t>
            </a: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1255776" y="457200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FF6B35"/>
                </a:solidFill>
              </a:rPr>
              <a:t>Frontend Interface</a:t>
            </a:r>
            <a:endParaRPr lang="en-US" sz="1133" dirty="0"/>
          </a:p>
        </p:txBody>
      </p:sp>
      <p:sp>
        <p:nvSpPr>
          <p:cNvPr id="29" name="Text 23"/>
          <p:cNvSpPr/>
          <p:nvPr/>
        </p:nvSpPr>
        <p:spPr>
          <a:xfrm>
            <a:off x="646176" y="496214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Custom web page embedding the watsonx web chat widget via wxoLoader.js &amp; wxOConfiguration.</a:t>
            </a:r>
            <a:endParaRPr lang="en-US" sz="1133" dirty="0"/>
          </a:p>
        </p:txBody>
      </p:sp>
      <p:sp>
        <p:nvSpPr>
          <p:cNvPr id="30" name="Shape 24"/>
          <p:cNvSpPr/>
          <p:nvPr/>
        </p:nvSpPr>
        <p:spPr>
          <a:xfrm>
            <a:off x="4328160" y="396240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1" name="Shape 25"/>
          <p:cNvSpPr/>
          <p:nvPr/>
        </p:nvSpPr>
        <p:spPr>
          <a:xfrm>
            <a:off x="4328160" y="3962400"/>
            <a:ext cx="73152" cy="22555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7616" y="4230624"/>
            <a:ext cx="512064" cy="5120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57216" y="418185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AI Ethics &amp; Guardrails</a:t>
            </a: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5157216" y="457200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06D6A0"/>
                </a:solidFill>
              </a:rPr>
              <a:t>Governance</a:t>
            </a:r>
            <a:endParaRPr lang="en-US" sz="1133" dirty="0"/>
          </a:p>
        </p:txBody>
      </p:sp>
      <p:sp>
        <p:nvSpPr>
          <p:cNvPr id="35" name="Text 28"/>
          <p:cNvSpPr/>
          <p:nvPr/>
        </p:nvSpPr>
        <p:spPr>
          <a:xfrm>
            <a:off x="4547616" y="496214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HAM principles: Helpful, Accurate, Mindful. No medical diagnosis. Safe fitness guidance only.</a:t>
            </a:r>
            <a:endParaRPr lang="en-US" sz="1133" dirty="0"/>
          </a:p>
        </p:txBody>
      </p:sp>
      <p:sp>
        <p:nvSpPr>
          <p:cNvPr id="36" name="Shape 29"/>
          <p:cNvSpPr/>
          <p:nvPr/>
        </p:nvSpPr>
        <p:spPr>
          <a:xfrm>
            <a:off x="8229600" y="3962400"/>
            <a:ext cx="3657600" cy="225552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7" name="Shape 30"/>
          <p:cNvSpPr/>
          <p:nvPr/>
        </p:nvSpPr>
        <p:spPr>
          <a:xfrm>
            <a:off x="8229600" y="3962400"/>
            <a:ext cx="73152" cy="2255520"/>
          </a:xfrm>
          <a:prstGeom prst="rect">
            <a:avLst/>
          </a:prstGeom>
          <a:solidFill>
            <a:srgbClr val="8AADCA"/>
          </a:solidFill>
          <a:ln/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9056" y="4230624"/>
            <a:ext cx="512064" cy="51206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58656" y="4181856"/>
            <a:ext cx="26822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Python HTTP Server</a:t>
            </a: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9058656" y="4572000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Local Dev Server</a:t>
            </a:r>
            <a:endParaRPr lang="en-US" sz="1133" dirty="0"/>
          </a:p>
        </p:txBody>
      </p:sp>
      <p:sp>
        <p:nvSpPr>
          <p:cNvPr id="41" name="Text 33"/>
          <p:cNvSpPr/>
          <p:nvPr/>
        </p:nvSpPr>
        <p:spPr>
          <a:xfrm>
            <a:off x="8449056" y="4962144"/>
            <a:ext cx="3316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Serves the HTML file over localhost to satisfy IBM CORS &amp; origin requirements for embed widget.</a:t>
            </a:r>
            <a:endParaRPr lang="en-US" sz="11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tx1"/>
                </a:solidFill>
              </a:rPr>
              <a:t>Proposed Solution — AI-Powered Fitness Buddy</a:t>
            </a:r>
            <a:endParaRPr lang="en-US" sz="2667" dirty="0">
              <a:solidFill>
                <a:schemeClr val="tx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26720" y="1365504"/>
            <a:ext cx="11338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chemeClr val="tx1"/>
                </a:solidFill>
              </a:rPr>
              <a:t>Fitness Buddy is a single-agent, conversational AI health coach on IBM watsonx Orchestrate. A carefully crafted behavior instruction set guides the IBM LLM to act as a personalized fitness advisor. Users interact via a custom HTML web page embedding the watsonx web chat widget.</a:t>
            </a:r>
          </a:p>
        </p:txBody>
      </p:sp>
      <p:sp>
        <p:nvSpPr>
          <p:cNvPr id="7" name="Shape 5"/>
          <p:cNvSpPr/>
          <p:nvPr/>
        </p:nvSpPr>
        <p:spPr>
          <a:xfrm>
            <a:off x="426720" y="2218944"/>
            <a:ext cx="2133600" cy="3962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8" name="Shape 6"/>
          <p:cNvSpPr/>
          <p:nvPr/>
        </p:nvSpPr>
        <p:spPr>
          <a:xfrm>
            <a:off x="426720" y="2218944"/>
            <a:ext cx="213360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426720" y="231648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0B4D8"/>
                </a:solidFill>
              </a:rPr>
              <a:t>01</a:t>
            </a:r>
            <a:endParaRPr lang="en-US" sz="1467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624" y="2804160"/>
            <a:ext cx="609600" cy="609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24256" y="353568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Safe Fitness Guidance</a:t>
            </a:r>
            <a:endParaRPr lang="en-US" sz="1267" dirty="0"/>
          </a:p>
        </p:txBody>
      </p:sp>
      <p:sp>
        <p:nvSpPr>
          <p:cNvPr id="12" name="Text 9"/>
          <p:cNvSpPr/>
          <p:nvPr/>
        </p:nvSpPr>
        <p:spPr>
          <a:xfrm>
            <a:off x="524256" y="4206240"/>
            <a:ext cx="195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8AADCA"/>
                </a:solidFill>
              </a:rPr>
              <a:t>Provides evidence-based home workout recommendations. Collects age, fitness goal, and activity level before any plan.</a:t>
            </a:r>
            <a:endParaRPr lang="en-US" sz="1067" dirty="0"/>
          </a:p>
        </p:txBody>
      </p:sp>
      <p:sp>
        <p:nvSpPr>
          <p:cNvPr id="13" name="Shape 10"/>
          <p:cNvSpPr/>
          <p:nvPr/>
        </p:nvSpPr>
        <p:spPr>
          <a:xfrm>
            <a:off x="2743200" y="2218944"/>
            <a:ext cx="2133600" cy="3962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" name="Shape 11"/>
          <p:cNvSpPr/>
          <p:nvPr/>
        </p:nvSpPr>
        <p:spPr>
          <a:xfrm>
            <a:off x="2743200" y="2218944"/>
            <a:ext cx="21336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Text 12"/>
          <p:cNvSpPr/>
          <p:nvPr/>
        </p:nvSpPr>
        <p:spPr>
          <a:xfrm>
            <a:off x="2743200" y="231648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6B35"/>
                </a:solidFill>
              </a:rPr>
              <a:t>02</a:t>
            </a:r>
            <a:endParaRPr lang="en-US" sz="1467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9104" y="2804160"/>
            <a:ext cx="609600" cy="609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840736" y="353568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Home Workout Plans</a:t>
            </a:r>
            <a:endParaRPr lang="en-US" sz="1267" dirty="0"/>
          </a:p>
        </p:txBody>
      </p:sp>
      <p:sp>
        <p:nvSpPr>
          <p:cNvPr id="18" name="Text 14"/>
          <p:cNvSpPr/>
          <p:nvPr/>
        </p:nvSpPr>
        <p:spPr>
          <a:xfrm>
            <a:off x="2840736" y="4206240"/>
            <a:ext cx="195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8AADCA"/>
                </a:solidFill>
              </a:rPr>
              <a:t>Recommends structured routines based on fitness level, available equipment &amp; time — no gym needed.</a:t>
            </a:r>
            <a:endParaRPr lang="en-US" sz="1067" dirty="0"/>
          </a:p>
        </p:txBody>
      </p:sp>
      <p:sp>
        <p:nvSpPr>
          <p:cNvPr id="19" name="Shape 15"/>
          <p:cNvSpPr/>
          <p:nvPr/>
        </p:nvSpPr>
        <p:spPr>
          <a:xfrm>
            <a:off x="5059680" y="2218944"/>
            <a:ext cx="2133600" cy="3962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0" name="Shape 16"/>
          <p:cNvSpPr/>
          <p:nvPr/>
        </p:nvSpPr>
        <p:spPr>
          <a:xfrm>
            <a:off x="5059680" y="2218944"/>
            <a:ext cx="2133600" cy="7315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1" name="Text 17"/>
          <p:cNvSpPr/>
          <p:nvPr/>
        </p:nvSpPr>
        <p:spPr>
          <a:xfrm>
            <a:off x="5059680" y="231648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06D6A0"/>
                </a:solidFill>
              </a:rPr>
              <a:t>03</a:t>
            </a:r>
            <a:endParaRPr lang="en-US" sz="1467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584" y="2804160"/>
            <a:ext cx="609600" cy="6096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57216" y="353568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Beginner Nutrition</a:t>
            </a:r>
            <a:endParaRPr lang="en-US" sz="1267" dirty="0"/>
          </a:p>
        </p:txBody>
      </p:sp>
      <p:sp>
        <p:nvSpPr>
          <p:cNvPr id="24" name="Text 19"/>
          <p:cNvSpPr/>
          <p:nvPr/>
        </p:nvSpPr>
        <p:spPr>
          <a:xfrm>
            <a:off x="5157216" y="4206240"/>
            <a:ext cx="195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8AADCA"/>
                </a:solidFill>
              </a:rPr>
              <a:t>Suggests balanced meal ideas based on veg/non-veg preference and medical history like diabetes or blood pressure.</a:t>
            </a:r>
            <a:endParaRPr lang="en-US" sz="1067" dirty="0"/>
          </a:p>
        </p:txBody>
      </p:sp>
      <p:sp>
        <p:nvSpPr>
          <p:cNvPr id="25" name="Shape 20"/>
          <p:cNvSpPr/>
          <p:nvPr/>
        </p:nvSpPr>
        <p:spPr>
          <a:xfrm>
            <a:off x="7376160" y="2218944"/>
            <a:ext cx="2133600" cy="3962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6" name="Shape 21"/>
          <p:cNvSpPr/>
          <p:nvPr/>
        </p:nvSpPr>
        <p:spPr>
          <a:xfrm>
            <a:off x="7376160" y="2218944"/>
            <a:ext cx="2133600" cy="7315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2"/>
          <p:cNvSpPr/>
          <p:nvPr/>
        </p:nvSpPr>
        <p:spPr>
          <a:xfrm>
            <a:off x="7376160" y="231648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D166"/>
                </a:solidFill>
              </a:rPr>
              <a:t>04</a:t>
            </a:r>
            <a:endParaRPr lang="en-US" sz="1467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2064" y="2804160"/>
            <a:ext cx="609600" cy="609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73696" y="353568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Habit Building</a:t>
            </a:r>
            <a:endParaRPr lang="en-US" sz="1267" dirty="0"/>
          </a:p>
        </p:txBody>
      </p:sp>
      <p:sp>
        <p:nvSpPr>
          <p:cNvPr id="30" name="Text 24"/>
          <p:cNvSpPr/>
          <p:nvPr/>
        </p:nvSpPr>
        <p:spPr>
          <a:xfrm>
            <a:off x="7473696" y="4206240"/>
            <a:ext cx="195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8AADCA"/>
                </a:solidFill>
              </a:rPr>
              <a:t>Encourages consistency, tracks user goals across conversation turns, and provides positive reinforcement messages.</a:t>
            </a:r>
            <a:endParaRPr lang="en-US" sz="1067" dirty="0"/>
          </a:p>
        </p:txBody>
      </p:sp>
      <p:sp>
        <p:nvSpPr>
          <p:cNvPr id="31" name="Shape 25"/>
          <p:cNvSpPr/>
          <p:nvPr/>
        </p:nvSpPr>
        <p:spPr>
          <a:xfrm>
            <a:off x="9692640" y="2218944"/>
            <a:ext cx="2133600" cy="39624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2" name="Shape 26"/>
          <p:cNvSpPr/>
          <p:nvPr/>
        </p:nvSpPr>
        <p:spPr>
          <a:xfrm>
            <a:off x="9692640" y="2218944"/>
            <a:ext cx="2133600" cy="7315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3" name="Text 27"/>
          <p:cNvSpPr/>
          <p:nvPr/>
        </p:nvSpPr>
        <p:spPr>
          <a:xfrm>
            <a:off x="9692640" y="2316480"/>
            <a:ext cx="2133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90E0EF"/>
                </a:solidFill>
              </a:rPr>
              <a:t>05</a:t>
            </a:r>
            <a:endParaRPr lang="en-US" sz="1467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8544" y="2804160"/>
            <a:ext cx="609600" cy="6096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790176" y="3535680"/>
            <a:ext cx="19507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FFFF"/>
                </a:solidFill>
              </a:rPr>
              <a:t>Positive Motivation</a:t>
            </a:r>
            <a:endParaRPr lang="en-US" sz="1267" dirty="0"/>
          </a:p>
        </p:txBody>
      </p:sp>
      <p:sp>
        <p:nvSpPr>
          <p:cNvPr id="36" name="Text 29"/>
          <p:cNvSpPr/>
          <p:nvPr/>
        </p:nvSpPr>
        <p:spPr>
          <a:xfrm>
            <a:off x="9790176" y="4206240"/>
            <a:ext cx="1950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8AADCA"/>
                </a:solidFill>
              </a:rPr>
              <a:t>Delivers energetic, personalized motivational messages. Uses HAM (Helpful, Accurate, Mindful) communication tone.</a:t>
            </a:r>
            <a:endParaRPr lang="en-US" sz="1067" dirty="0"/>
          </a:p>
        </p:txBody>
      </p:sp>
      <p:sp>
        <p:nvSpPr>
          <p:cNvPr id="37" name="Shape 30"/>
          <p:cNvSpPr/>
          <p:nvPr/>
        </p:nvSpPr>
        <p:spPr>
          <a:xfrm>
            <a:off x="426720" y="6315456"/>
            <a:ext cx="11338560" cy="390144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38" name="Text 31"/>
          <p:cNvSpPr/>
          <p:nvPr/>
        </p:nvSpPr>
        <p:spPr>
          <a:xfrm>
            <a:off x="426720" y="6315456"/>
            <a:ext cx="11338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AADCA"/>
                </a:solidFill>
              </a:rPr>
              <a:t>🚫 Never provides medical diagnosis  ·  Always asks for Age, Goal &amp; Activity Level first  ·  Follows ethical AI principles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SCREENSHOT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</a:rPr>
              <a:t>Screenshots &amp; Live Demo</a:t>
            </a:r>
            <a:endParaRPr lang="en-US" sz="2933" dirty="0"/>
          </a:p>
        </p:txBody>
      </p:sp>
      <p:sp>
        <p:nvSpPr>
          <p:cNvPr id="6" name="Shape 4"/>
          <p:cNvSpPr/>
          <p:nvPr/>
        </p:nvSpPr>
        <p:spPr>
          <a:xfrm>
            <a:off x="426720" y="14630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26720" y="213360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8" name="Text 6"/>
          <p:cNvSpPr/>
          <p:nvPr/>
        </p:nvSpPr>
        <p:spPr>
          <a:xfrm>
            <a:off x="426720" y="280416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426720" y="3352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8880" y="14630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78880" y="3352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6720" y="42062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26720" y="60960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8880" y="42062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278880" y="60960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F54AAFA-1F1C-F472-7339-7A6E3DFF7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21" y="1418319"/>
            <a:ext cx="5321395" cy="248312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74A9152-F442-6456-A243-6F512F976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760" y="1440679"/>
            <a:ext cx="5400639" cy="248312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DAC5561-88B7-C8E9-6BEA-71EDEB14D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19" y="4214360"/>
            <a:ext cx="5486401" cy="243840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4C8D14E-61A7-B6B7-534B-3C120BD95E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8880" y="4249677"/>
            <a:ext cx="5591268" cy="23677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48DD7-6CAC-9FC2-805C-E0E82E37E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A7564F3-789E-529C-B162-E46C804CE6A4}"/>
              </a:ext>
            </a:extLst>
          </p:cNvPr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4CEF9E1-F17B-B07F-2D38-72C871C8ECFB}"/>
              </a:ext>
            </a:extLst>
          </p:cNvPr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AEB9D5-F615-101D-1045-45692EAD2BFE}"/>
              </a:ext>
            </a:extLst>
          </p:cNvPr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SCREENSHOT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8B4229-8599-7FC0-F52D-C5ED9C6D6D28}"/>
              </a:ext>
            </a:extLst>
          </p:cNvPr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</a:rPr>
              <a:t>Screenshots &amp; Live Demo</a:t>
            </a:r>
            <a:endParaRPr lang="en-US" sz="2933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B7F624E-0F05-A5B6-A778-513DA023CDD2}"/>
              </a:ext>
            </a:extLst>
          </p:cNvPr>
          <p:cNvSpPr/>
          <p:nvPr/>
        </p:nvSpPr>
        <p:spPr>
          <a:xfrm>
            <a:off x="426720" y="14630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701235-9554-7769-0259-F000595BEE7E}"/>
              </a:ext>
            </a:extLst>
          </p:cNvPr>
          <p:cNvSpPr/>
          <p:nvPr/>
        </p:nvSpPr>
        <p:spPr>
          <a:xfrm>
            <a:off x="426720" y="213360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2933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619FE2-6A4C-D9ED-6F4F-101E36EB3217}"/>
              </a:ext>
            </a:extLst>
          </p:cNvPr>
          <p:cNvSpPr/>
          <p:nvPr/>
        </p:nvSpPr>
        <p:spPr>
          <a:xfrm>
            <a:off x="426720" y="2804160"/>
            <a:ext cx="5486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467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681644B-1B93-7A18-3530-2C88B5049072}"/>
              </a:ext>
            </a:extLst>
          </p:cNvPr>
          <p:cNvSpPr/>
          <p:nvPr/>
        </p:nvSpPr>
        <p:spPr>
          <a:xfrm>
            <a:off x="426720" y="3352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8C0131B-1B39-79D0-CD55-E9113DED525E}"/>
              </a:ext>
            </a:extLst>
          </p:cNvPr>
          <p:cNvSpPr/>
          <p:nvPr/>
        </p:nvSpPr>
        <p:spPr>
          <a:xfrm>
            <a:off x="6278880" y="14630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CE307FE-69BA-D776-4D97-0C9333A8D317}"/>
              </a:ext>
            </a:extLst>
          </p:cNvPr>
          <p:cNvSpPr/>
          <p:nvPr/>
        </p:nvSpPr>
        <p:spPr>
          <a:xfrm>
            <a:off x="6278880" y="33528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106AF10-1C99-4C38-BC4B-B7EECF48FBF3}"/>
              </a:ext>
            </a:extLst>
          </p:cNvPr>
          <p:cNvSpPr/>
          <p:nvPr/>
        </p:nvSpPr>
        <p:spPr>
          <a:xfrm>
            <a:off x="426720" y="42062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86117713-8B3C-03D8-C3FE-7AC5447F82CC}"/>
              </a:ext>
            </a:extLst>
          </p:cNvPr>
          <p:cNvSpPr/>
          <p:nvPr/>
        </p:nvSpPr>
        <p:spPr>
          <a:xfrm>
            <a:off x="426720" y="60960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1B408F91-0039-E195-6F4C-FB6336EA3CFB}"/>
              </a:ext>
            </a:extLst>
          </p:cNvPr>
          <p:cNvSpPr/>
          <p:nvPr/>
        </p:nvSpPr>
        <p:spPr>
          <a:xfrm>
            <a:off x="6278880" y="4206240"/>
            <a:ext cx="5486400" cy="2438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B4D8"/>
            </a:solidFill>
            <a:prstDash val="dash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3A33FE5-8BDE-F5C4-7168-536A1332FEEC}"/>
              </a:ext>
            </a:extLst>
          </p:cNvPr>
          <p:cNvSpPr/>
          <p:nvPr/>
        </p:nvSpPr>
        <p:spPr>
          <a:xfrm>
            <a:off x="6278880" y="6096000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162230"/>
                </a:solidFill>
              </a:rPr>
              <a:t>[ Insert Screenshot ]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A53485-3DF1-162B-3493-0813FC0A9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61" y="1480061"/>
            <a:ext cx="5413640" cy="246243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13E4D7A-501A-CACD-1AC3-7A0EF492B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1641" y="1463040"/>
            <a:ext cx="5388398" cy="246243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5C723C-A549-8E84-D2A9-2A407C364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881" y="4146722"/>
            <a:ext cx="5364480" cy="25574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E08E8B3-1928-3560-1FDC-CA80BE24C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641" y="4196408"/>
            <a:ext cx="5364478" cy="248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594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682240" cy="39014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6822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ARCHITECTURE BLUEPRINT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33" b="1" dirty="0">
                <a:solidFill>
                  <a:schemeClr val="tx1"/>
                </a:solidFill>
              </a:rPr>
              <a:t>System Architecture — Single-Agent on IBM Cloud Lite</a:t>
            </a:r>
            <a:endParaRPr lang="en-US" sz="25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341120"/>
            <a:ext cx="11338560" cy="10972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341120"/>
            <a:ext cx="73152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670560" y="1402080"/>
            <a:ext cx="2682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0B4D8"/>
                </a:solidFill>
              </a:rPr>
              <a:t>LAYER 1 — USER INTERFACE</a:t>
            </a:r>
            <a:endParaRPr lang="en-US" sz="1067" dirty="0"/>
          </a:p>
        </p:txBody>
      </p:sp>
      <p:sp>
        <p:nvSpPr>
          <p:cNvPr id="9" name="Shape 7"/>
          <p:cNvSpPr/>
          <p:nvPr/>
        </p:nvSpPr>
        <p:spPr>
          <a:xfrm>
            <a:off x="670560" y="176784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0560" y="176784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Web Browser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(HTML Page)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3413760" y="176784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3760" y="176784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wxoLoader.js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(IBM Script)</a:t>
            </a:r>
            <a:endParaRPr lang="en-US" sz="1067" dirty="0"/>
          </a:p>
        </p:txBody>
      </p:sp>
      <p:sp>
        <p:nvSpPr>
          <p:cNvPr id="13" name="Shape 11"/>
          <p:cNvSpPr/>
          <p:nvPr/>
        </p:nvSpPr>
        <p:spPr>
          <a:xfrm>
            <a:off x="6156960" y="176784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56960" y="176784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Chat Widget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(Embedded)</a:t>
            </a:r>
            <a:endParaRPr lang="en-US" sz="1067" dirty="0"/>
          </a:p>
        </p:txBody>
      </p:sp>
      <p:sp>
        <p:nvSpPr>
          <p:cNvPr id="15" name="Text 13"/>
          <p:cNvSpPr/>
          <p:nvPr/>
        </p:nvSpPr>
        <p:spPr>
          <a:xfrm>
            <a:off x="9144000" y="201168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00B4D8"/>
                </a:solidFill>
              </a:rPr>
              <a:t>HTTPS API Calls ↓</a:t>
            </a:r>
            <a:endParaRPr lang="en-US" sz="1067" dirty="0"/>
          </a:p>
        </p:txBody>
      </p:sp>
      <p:sp>
        <p:nvSpPr>
          <p:cNvPr id="16" name="Shape 14"/>
          <p:cNvSpPr/>
          <p:nvPr/>
        </p:nvSpPr>
        <p:spPr>
          <a:xfrm>
            <a:off x="426720" y="2621280"/>
            <a:ext cx="11338560" cy="10972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Shape 15"/>
          <p:cNvSpPr/>
          <p:nvPr/>
        </p:nvSpPr>
        <p:spPr>
          <a:xfrm>
            <a:off x="426720" y="2621280"/>
            <a:ext cx="73152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670560" y="2682240"/>
            <a:ext cx="2682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6B35"/>
                </a:solidFill>
              </a:rPr>
              <a:t>LAYER 2 — IBM watsonx ORCHESTRATE</a:t>
            </a:r>
            <a:endParaRPr lang="en-US" sz="1067" dirty="0"/>
          </a:p>
        </p:txBody>
      </p:sp>
      <p:sp>
        <p:nvSpPr>
          <p:cNvPr id="19" name="Shape 17"/>
          <p:cNvSpPr/>
          <p:nvPr/>
        </p:nvSpPr>
        <p:spPr>
          <a:xfrm>
            <a:off x="670560" y="3048000"/>
            <a:ext cx="237744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0560" y="3048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Fitness Buddy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Agent</a:t>
            </a:r>
            <a:endParaRPr lang="en-US" sz="1067" dirty="0"/>
          </a:p>
        </p:txBody>
      </p:sp>
      <p:sp>
        <p:nvSpPr>
          <p:cNvPr id="21" name="Shape 19"/>
          <p:cNvSpPr/>
          <p:nvPr/>
        </p:nvSpPr>
        <p:spPr>
          <a:xfrm>
            <a:off x="3352800" y="3048000"/>
            <a:ext cx="237744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2800" y="3048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Behavior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Instructions</a:t>
            </a:r>
            <a:endParaRPr lang="en-US" sz="1067" dirty="0"/>
          </a:p>
        </p:txBody>
      </p:sp>
      <p:sp>
        <p:nvSpPr>
          <p:cNvPr id="23" name="Shape 21"/>
          <p:cNvSpPr/>
          <p:nvPr/>
        </p:nvSpPr>
        <p:spPr>
          <a:xfrm>
            <a:off x="6035040" y="3048000"/>
            <a:ext cx="237744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3048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Intent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Routing</a:t>
            </a:r>
            <a:endParaRPr lang="en-US" sz="1067" dirty="0"/>
          </a:p>
        </p:txBody>
      </p:sp>
      <p:sp>
        <p:nvSpPr>
          <p:cNvPr id="25" name="Shape 23"/>
          <p:cNvSpPr/>
          <p:nvPr/>
        </p:nvSpPr>
        <p:spPr>
          <a:xfrm>
            <a:off x="8717280" y="3048000"/>
            <a:ext cx="237744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17280" y="304800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Conversation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Memory</a:t>
            </a:r>
            <a:endParaRPr lang="en-US" sz="1067" dirty="0"/>
          </a:p>
        </p:txBody>
      </p:sp>
      <p:sp>
        <p:nvSpPr>
          <p:cNvPr id="27" name="Text 25"/>
          <p:cNvSpPr/>
          <p:nvPr/>
        </p:nvSpPr>
        <p:spPr>
          <a:xfrm>
            <a:off x="9144000" y="329184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FF6B35"/>
                </a:solidFill>
              </a:rPr>
              <a:t>LLM API Calls ↓</a:t>
            </a:r>
            <a:endParaRPr lang="en-US" sz="1067" dirty="0"/>
          </a:p>
        </p:txBody>
      </p:sp>
      <p:sp>
        <p:nvSpPr>
          <p:cNvPr id="28" name="Shape 26"/>
          <p:cNvSpPr/>
          <p:nvPr/>
        </p:nvSpPr>
        <p:spPr>
          <a:xfrm>
            <a:off x="426720" y="3901440"/>
            <a:ext cx="11338560" cy="10972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9" name="Shape 27"/>
          <p:cNvSpPr/>
          <p:nvPr/>
        </p:nvSpPr>
        <p:spPr>
          <a:xfrm>
            <a:off x="426720" y="3901440"/>
            <a:ext cx="73152" cy="10972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0" name="Text 28"/>
          <p:cNvSpPr/>
          <p:nvPr/>
        </p:nvSpPr>
        <p:spPr>
          <a:xfrm>
            <a:off x="670560" y="3962400"/>
            <a:ext cx="2682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D166"/>
                </a:solidFill>
              </a:rPr>
              <a:t>LAYER 3 — IBM GRANITE / GPT-OSS-120B LLM</a:t>
            </a:r>
            <a:endParaRPr lang="en-US" sz="1067" dirty="0"/>
          </a:p>
        </p:txBody>
      </p:sp>
      <p:sp>
        <p:nvSpPr>
          <p:cNvPr id="31" name="Shape 29"/>
          <p:cNvSpPr/>
          <p:nvPr/>
        </p:nvSpPr>
        <p:spPr>
          <a:xfrm>
            <a:off x="670560" y="432816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0560" y="432816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NL Understanding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&amp; Reasoning</a:t>
            </a:r>
            <a:endParaRPr lang="en-US" sz="1067" dirty="0"/>
          </a:p>
        </p:txBody>
      </p:sp>
      <p:sp>
        <p:nvSpPr>
          <p:cNvPr id="33" name="Shape 31"/>
          <p:cNvSpPr/>
          <p:nvPr/>
        </p:nvSpPr>
        <p:spPr>
          <a:xfrm>
            <a:off x="3413760" y="432816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13760" y="432816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Plan Generation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&amp; Personalization</a:t>
            </a:r>
            <a:endParaRPr lang="en-US" sz="1067" dirty="0"/>
          </a:p>
        </p:txBody>
      </p:sp>
      <p:sp>
        <p:nvSpPr>
          <p:cNvPr id="35" name="Shape 33"/>
          <p:cNvSpPr/>
          <p:nvPr/>
        </p:nvSpPr>
        <p:spPr>
          <a:xfrm>
            <a:off x="6156960" y="432816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6960" y="432816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Motivation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&amp; Tone Control</a:t>
            </a:r>
            <a:endParaRPr lang="en-US" sz="1067" dirty="0"/>
          </a:p>
        </p:txBody>
      </p:sp>
      <p:sp>
        <p:nvSpPr>
          <p:cNvPr id="37" name="Text 35"/>
          <p:cNvSpPr/>
          <p:nvPr/>
        </p:nvSpPr>
        <p:spPr>
          <a:xfrm>
            <a:off x="9144000" y="4572000"/>
            <a:ext cx="2560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67" dirty="0">
                <a:solidFill>
                  <a:srgbClr val="FFD166"/>
                </a:solidFill>
              </a:rPr>
              <a:t>Cloud Services ↓</a:t>
            </a:r>
            <a:endParaRPr lang="en-US" sz="1067" dirty="0"/>
          </a:p>
        </p:txBody>
      </p:sp>
      <p:sp>
        <p:nvSpPr>
          <p:cNvPr id="38" name="Shape 36"/>
          <p:cNvSpPr/>
          <p:nvPr/>
        </p:nvSpPr>
        <p:spPr>
          <a:xfrm>
            <a:off x="426720" y="5181600"/>
            <a:ext cx="11338560" cy="10972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9" name="Shape 37"/>
          <p:cNvSpPr/>
          <p:nvPr/>
        </p:nvSpPr>
        <p:spPr>
          <a:xfrm>
            <a:off x="426720" y="5181600"/>
            <a:ext cx="73152" cy="10972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0" name="Text 38"/>
          <p:cNvSpPr/>
          <p:nvPr/>
        </p:nvSpPr>
        <p:spPr>
          <a:xfrm>
            <a:off x="670560" y="5242560"/>
            <a:ext cx="26822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06D6A0"/>
                </a:solidFill>
              </a:rPr>
              <a:t>LAYER 4 — IBM CLOUD LITE</a:t>
            </a:r>
            <a:endParaRPr lang="en-US" sz="1067" dirty="0"/>
          </a:p>
        </p:txBody>
      </p:sp>
      <p:sp>
        <p:nvSpPr>
          <p:cNvPr id="41" name="Shape 39"/>
          <p:cNvSpPr/>
          <p:nvPr/>
        </p:nvSpPr>
        <p:spPr>
          <a:xfrm>
            <a:off x="670560" y="560832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0560" y="560832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IAM &amp; API Keys</a:t>
            </a:r>
            <a:endParaRPr lang="en-US" sz="1067" dirty="0"/>
          </a:p>
        </p:txBody>
      </p:sp>
      <p:sp>
        <p:nvSpPr>
          <p:cNvPr id="43" name="Shape 41"/>
          <p:cNvSpPr/>
          <p:nvPr/>
        </p:nvSpPr>
        <p:spPr>
          <a:xfrm>
            <a:off x="3413760" y="560832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3760" y="560832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au-syd Region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Instance</a:t>
            </a:r>
            <a:endParaRPr lang="en-US" sz="1067" dirty="0"/>
          </a:p>
        </p:txBody>
      </p:sp>
      <p:sp>
        <p:nvSpPr>
          <p:cNvPr id="45" name="Shape 43"/>
          <p:cNvSpPr/>
          <p:nvPr/>
        </p:nvSpPr>
        <p:spPr>
          <a:xfrm>
            <a:off x="6156960" y="5608320"/>
            <a:ext cx="2438400" cy="585216"/>
          </a:xfrm>
          <a:prstGeom prst="rect">
            <a:avLst/>
          </a:prstGeom>
          <a:solidFill>
            <a:srgbClr val="162230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56960" y="5608320"/>
            <a:ext cx="243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dirty="0">
                <a:solidFill>
                  <a:srgbClr val="FFFFFF"/>
                </a:solidFill>
              </a:rPr>
              <a:t>Cloud Object</a:t>
            </a:r>
            <a:endParaRPr lang="en-US" sz="1067" dirty="0"/>
          </a:p>
          <a:p>
            <a:pPr algn="ctr"/>
            <a:r>
              <a:rPr lang="en-US" sz="1067" dirty="0">
                <a:solidFill>
                  <a:srgbClr val="FFFFFF"/>
                </a:solidFill>
              </a:rPr>
              <a:t>Storage (Free)</a:t>
            </a:r>
            <a:endParaRPr lang="en-US" sz="10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ROLE OF AGENTIC AI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Role of Agentic AI in Fitness Buddy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632960" y="2438400"/>
            <a:ext cx="2926080" cy="2926080"/>
          </a:xfrm>
          <a:prstGeom prst="ellipse">
            <a:avLst/>
          </a:prstGeom>
          <a:solidFill>
            <a:srgbClr val="1B2A3B"/>
          </a:solidFill>
          <a:ln w="317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2960" y="243840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6B35"/>
                </a:solidFill>
              </a:rPr>
              <a:t>Agentic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F6B35"/>
                </a:solidFill>
              </a:rPr>
              <a:t>AI</a:t>
            </a:r>
            <a:endParaRPr lang="en-US" sz="1733" dirty="0"/>
          </a:p>
          <a:p>
            <a:pPr algn="ctr"/>
            <a:r>
              <a:rPr lang="en-US" sz="1733" b="1" dirty="0">
                <a:solidFill>
                  <a:srgbClr val="FF6B35"/>
                </a:solidFill>
              </a:rPr>
              <a:t>Core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426720" y="1402080"/>
            <a:ext cx="3657600" cy="2133600"/>
          </a:xfrm>
          <a:prstGeom prst="rect">
            <a:avLst/>
          </a:prstGeom>
          <a:solidFill>
            <a:srgbClr val="1B2A3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645920"/>
            <a:ext cx="487680" cy="48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19200" y="1621536"/>
            <a:ext cx="274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Autonomous</a:t>
            </a:r>
            <a:endParaRPr lang="en-US" sz="1467" dirty="0"/>
          </a:p>
          <a:p>
            <a:r>
              <a:rPr lang="en-US" sz="1467" b="1" dirty="0">
                <a:solidFill>
                  <a:srgbClr val="FFFFFF"/>
                </a:solidFill>
              </a:rPr>
              <a:t>Decision-Making</a:t>
            </a:r>
            <a:endParaRPr lang="en-US" sz="1467" dirty="0"/>
          </a:p>
        </p:txBody>
      </p:sp>
      <p:sp>
        <p:nvSpPr>
          <p:cNvPr id="11" name="Text 8"/>
          <p:cNvSpPr/>
          <p:nvPr/>
        </p:nvSpPr>
        <p:spPr>
          <a:xfrm>
            <a:off x="646176" y="2353056"/>
            <a:ext cx="331622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Independently decides what info to collect, which plan to generate, and when to apply guardrails.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07680" y="1402080"/>
            <a:ext cx="3657600" cy="2133600"/>
          </a:xfrm>
          <a:prstGeom prst="rect">
            <a:avLst/>
          </a:prstGeom>
          <a:solidFill>
            <a:srgbClr val="1B2A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136" y="1645920"/>
            <a:ext cx="487680" cy="487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00160" y="1621536"/>
            <a:ext cx="274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Context</a:t>
            </a:r>
            <a:endParaRPr lang="en-US" sz="1467" dirty="0"/>
          </a:p>
          <a:p>
            <a:r>
              <a:rPr lang="en-US" sz="1467" b="1" dirty="0">
                <a:solidFill>
                  <a:srgbClr val="FFFFFF"/>
                </a:solidFill>
              </a:rPr>
              <a:t>Awareness</a:t>
            </a:r>
            <a:endParaRPr lang="en-US" sz="1467" dirty="0"/>
          </a:p>
        </p:txBody>
      </p:sp>
      <p:sp>
        <p:nvSpPr>
          <p:cNvPr id="15" name="Text 11"/>
          <p:cNvSpPr/>
          <p:nvPr/>
        </p:nvSpPr>
        <p:spPr>
          <a:xfrm>
            <a:off x="8327136" y="2353056"/>
            <a:ext cx="331622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Retains user profile (age, diet, medical history) throughout conversation for consistent responses.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26720" y="4267200"/>
            <a:ext cx="3657600" cy="2133600"/>
          </a:xfrm>
          <a:prstGeom prst="rect">
            <a:avLst/>
          </a:prstGeom>
          <a:solidFill>
            <a:srgbClr val="1B2A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" y="4511040"/>
            <a:ext cx="487680" cy="487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19200" y="4486656"/>
            <a:ext cx="274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Goal-Driven</a:t>
            </a:r>
            <a:endParaRPr lang="en-US" sz="1467" dirty="0"/>
          </a:p>
          <a:p>
            <a:r>
              <a:rPr lang="en-US" sz="1467" b="1" dirty="0">
                <a:solidFill>
                  <a:srgbClr val="FFFFFF"/>
                </a:solidFill>
              </a:rPr>
              <a:t>Behavior</a:t>
            </a:r>
            <a:endParaRPr lang="en-US" sz="1467" dirty="0"/>
          </a:p>
        </p:txBody>
      </p:sp>
      <p:sp>
        <p:nvSpPr>
          <p:cNvPr id="19" name="Text 14"/>
          <p:cNvSpPr/>
          <p:nvPr/>
        </p:nvSpPr>
        <p:spPr>
          <a:xfrm>
            <a:off x="646176" y="5218176"/>
            <a:ext cx="331622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Proactively guides users toward fitness goals by collecting required data before generating any plan.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107680" y="4267200"/>
            <a:ext cx="3657600" cy="2133600"/>
          </a:xfrm>
          <a:prstGeom prst="rect">
            <a:avLst/>
          </a:prstGeom>
          <a:solidFill>
            <a:srgbClr val="1B2A3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136" y="4511040"/>
            <a:ext cx="487680" cy="4876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00160" y="4486656"/>
            <a:ext cx="27432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Real-Time</a:t>
            </a:r>
            <a:endParaRPr lang="en-US" sz="1467" dirty="0"/>
          </a:p>
          <a:p>
            <a:r>
              <a:rPr lang="en-US" sz="1467" b="1" dirty="0">
                <a:solidFill>
                  <a:srgbClr val="FFFFFF"/>
                </a:solidFill>
              </a:rPr>
              <a:t>Adaptation</a:t>
            </a:r>
            <a:endParaRPr lang="en-US" sz="1467" dirty="0"/>
          </a:p>
        </p:txBody>
      </p:sp>
      <p:sp>
        <p:nvSpPr>
          <p:cNvPr id="23" name="Text 17"/>
          <p:cNvSpPr/>
          <p:nvPr/>
        </p:nvSpPr>
        <p:spPr>
          <a:xfrm>
            <a:off x="8327136" y="5218176"/>
            <a:ext cx="331622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Continuously adapts tone, recommendations &amp; motivation based on user feedback during the session.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26720" y="6339840"/>
            <a:ext cx="11338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AADCA"/>
                </a:solidFill>
              </a:rPr>
              <a:t>Agentic AI makes Fitness Buddy proactive, personalized &amp; goal-driven — a smart digital fitness coach, not just a static chatbot.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4384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TECH DETAILS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Technology Details &amp; Configuration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38656"/>
            <a:ext cx="2682240" cy="514502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38656"/>
            <a:ext cx="2682240" cy="73152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609344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4256" y="223113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00B4D8"/>
                </a:solidFill>
              </a:rPr>
              <a:t>IBM watsonx Orchestrate</a:t>
            </a:r>
            <a:endParaRPr lang="en-US" sz="1267" dirty="0"/>
          </a:p>
        </p:txBody>
      </p:sp>
      <p:sp>
        <p:nvSpPr>
          <p:cNvPr id="10" name="Text 7"/>
          <p:cNvSpPr/>
          <p:nvPr/>
        </p:nvSpPr>
        <p:spPr>
          <a:xfrm>
            <a:off x="573024" y="2950464"/>
            <a:ext cx="243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Platform for building &amp; deploying AI agents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Single agent with behavior instructions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Web chat widget with wxoLoader.js embed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Hosted on IBM Cloud (au-syd region)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AgentID: 9a497dbc-e774-4f20-a072-4c826379a0c0</a:t>
            </a:r>
            <a:endParaRPr lang="en-US" sz="1133" dirty="0"/>
          </a:p>
        </p:txBody>
      </p:sp>
      <p:sp>
        <p:nvSpPr>
          <p:cNvPr id="11" name="Shape 8"/>
          <p:cNvSpPr/>
          <p:nvPr/>
        </p:nvSpPr>
        <p:spPr>
          <a:xfrm>
            <a:off x="3377184" y="1438656"/>
            <a:ext cx="2682240" cy="514502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2" name="Shape 9"/>
          <p:cNvSpPr/>
          <p:nvPr/>
        </p:nvSpPr>
        <p:spPr>
          <a:xfrm>
            <a:off x="3377184" y="1438656"/>
            <a:ext cx="2682240" cy="73152"/>
          </a:xfrm>
          <a:prstGeom prst="rect">
            <a:avLst/>
          </a:prstGeom>
          <a:solidFill>
            <a:srgbClr val="90E0E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504" y="1609344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4720" y="223113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90E0EF"/>
                </a:solidFill>
              </a:rPr>
              <a:t>GPT-OSS-120B (Default LLM)</a:t>
            </a:r>
            <a:endParaRPr lang="en-US" sz="1267" dirty="0"/>
          </a:p>
        </p:txBody>
      </p:sp>
      <p:sp>
        <p:nvSpPr>
          <p:cNvPr id="15" name="Text 11"/>
          <p:cNvSpPr/>
          <p:nvPr/>
        </p:nvSpPr>
        <p:spPr>
          <a:xfrm>
            <a:off x="3523488" y="2950464"/>
            <a:ext cx="243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Foundation model powering the agent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Natural language understanding &amp; reasoning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Personalized plan generation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Motivation &amp; tone-aware responses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Deployed via watsonx.ai model serving</a:t>
            </a:r>
            <a:endParaRPr lang="en-US" sz="1133" dirty="0"/>
          </a:p>
        </p:txBody>
      </p:sp>
      <p:sp>
        <p:nvSpPr>
          <p:cNvPr id="16" name="Shape 12"/>
          <p:cNvSpPr/>
          <p:nvPr/>
        </p:nvSpPr>
        <p:spPr>
          <a:xfrm>
            <a:off x="6327648" y="1438656"/>
            <a:ext cx="2682240" cy="514502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Shape 13"/>
          <p:cNvSpPr/>
          <p:nvPr/>
        </p:nvSpPr>
        <p:spPr>
          <a:xfrm>
            <a:off x="6327648" y="1438656"/>
            <a:ext cx="2682240" cy="73152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968" y="1609344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5184" y="223113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D166"/>
                </a:solidFill>
              </a:rPr>
              <a:t>IBM Cloud Lite (Free Tier)</a:t>
            </a:r>
            <a:endParaRPr lang="en-US" sz="1267" dirty="0"/>
          </a:p>
        </p:txBody>
      </p:sp>
      <p:sp>
        <p:nvSpPr>
          <p:cNvPr id="20" name="Text 15"/>
          <p:cNvSpPr/>
          <p:nvPr/>
        </p:nvSpPr>
        <p:spPr>
          <a:xfrm>
            <a:off x="6473952" y="2950464"/>
            <a:ext cx="243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Free-tier IBM Cloud account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watsonx Orchestrate Lite instance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IAM API Key for authentication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CORS-compliant localhost deployment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au-syd.watson-orchestrate.cloud.ibm.com</a:t>
            </a:r>
            <a:endParaRPr lang="en-US" sz="1133" dirty="0"/>
          </a:p>
        </p:txBody>
      </p:sp>
      <p:sp>
        <p:nvSpPr>
          <p:cNvPr id="21" name="Shape 16"/>
          <p:cNvSpPr/>
          <p:nvPr/>
        </p:nvSpPr>
        <p:spPr>
          <a:xfrm>
            <a:off x="9278112" y="1438656"/>
            <a:ext cx="2682240" cy="5145024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2" name="Shape 17"/>
          <p:cNvSpPr/>
          <p:nvPr/>
        </p:nvSpPr>
        <p:spPr>
          <a:xfrm>
            <a:off x="9278112" y="1438656"/>
            <a:ext cx="2682240" cy="73152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432" y="1609344"/>
            <a:ext cx="548640" cy="5486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5648" y="2231136"/>
            <a:ext cx="2499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FF6B35"/>
                </a:solidFill>
              </a:rPr>
              <a:t>HTML + JS Frontend</a:t>
            </a:r>
            <a:endParaRPr lang="en-US" sz="1267" dirty="0"/>
          </a:p>
        </p:txBody>
      </p:sp>
      <p:sp>
        <p:nvSpPr>
          <p:cNvPr id="25" name="Text 19"/>
          <p:cNvSpPr/>
          <p:nvPr/>
        </p:nvSpPr>
        <p:spPr>
          <a:xfrm>
            <a:off x="9424416" y="2950464"/>
            <a:ext cx="2438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Single HTML file frontend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wxOConfiguration object setup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wxoLoader.js injected dynamically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Python HTTP server for localhost</a:t>
            </a:r>
            <a:endParaRPr lang="en-US" sz="1133" dirty="0"/>
          </a:p>
          <a:p>
            <a:pPr marL="457189" indent="-457189">
              <a:lnSpc>
                <a:spcPct val="125000"/>
              </a:lnSpc>
              <a:buSzPct val="100000"/>
              <a:buChar char="•"/>
            </a:pPr>
            <a:r>
              <a:rPr lang="en-US" sz="1133" dirty="0">
                <a:solidFill>
                  <a:srgbClr val="8AADCA"/>
                </a:solidFill>
              </a:rPr>
              <a:t>rootElementID: 'root' div mount</a:t>
            </a:r>
            <a:endParaRPr lang="en-US" sz="1133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1950720" cy="39014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NOVELTY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Novelty &amp; Uniqueness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6304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63040"/>
            <a:ext cx="73152" cy="14630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682496"/>
            <a:ext cx="463296" cy="4632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9200" y="164592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Holistic Single-Agent Design</a:t>
            </a:r>
            <a:endParaRPr lang="en-US" sz="1467" dirty="0"/>
          </a:p>
        </p:txBody>
      </p:sp>
      <p:sp>
        <p:nvSpPr>
          <p:cNvPr id="10" name="Text 7"/>
          <p:cNvSpPr/>
          <p:nvPr/>
        </p:nvSpPr>
        <p:spPr>
          <a:xfrm>
            <a:off x="646176" y="217017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Achieves all 5 roles (workout, nutrition, motivation, habit-building, ethics) through one expertly-crafted behavior instruction — simpler, faster, more cost-effective on IBM Cloud Lite.</a:t>
            </a:r>
            <a:endParaRPr lang="en-US" sz="1133" dirty="0"/>
          </a:p>
        </p:txBody>
      </p:sp>
      <p:sp>
        <p:nvSpPr>
          <p:cNvPr id="11" name="Shape 8"/>
          <p:cNvSpPr/>
          <p:nvPr/>
        </p:nvSpPr>
        <p:spPr>
          <a:xfrm>
            <a:off x="6339840" y="146304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2" name="Shape 9"/>
          <p:cNvSpPr/>
          <p:nvPr/>
        </p:nvSpPr>
        <p:spPr>
          <a:xfrm>
            <a:off x="6339840" y="1463040"/>
            <a:ext cx="73152" cy="146304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296" y="1682496"/>
            <a:ext cx="463296" cy="4632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64592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Built-in Ethical AI Guardrails</a:t>
            </a:r>
            <a:endParaRPr lang="en-US" sz="1467" dirty="0"/>
          </a:p>
        </p:txBody>
      </p:sp>
      <p:sp>
        <p:nvSpPr>
          <p:cNvPr id="15" name="Text 11"/>
          <p:cNvSpPr/>
          <p:nvPr/>
        </p:nvSpPr>
        <p:spPr>
          <a:xfrm>
            <a:off x="6559296" y="217017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HAM principles (Helpful, Accurate, Mindful) are embedded directly in the agent behavior. The agent proactively refuses medical diagnosis and ensures safe guidance by design.</a:t>
            </a:r>
            <a:endParaRPr lang="en-US" sz="1133" dirty="0"/>
          </a:p>
        </p:txBody>
      </p:sp>
      <p:sp>
        <p:nvSpPr>
          <p:cNvPr id="16" name="Shape 12"/>
          <p:cNvSpPr/>
          <p:nvPr/>
        </p:nvSpPr>
        <p:spPr>
          <a:xfrm>
            <a:off x="426720" y="310896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7" name="Shape 13"/>
          <p:cNvSpPr/>
          <p:nvPr/>
        </p:nvSpPr>
        <p:spPr>
          <a:xfrm>
            <a:off x="426720" y="3108960"/>
            <a:ext cx="73152" cy="146304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" y="3328416"/>
            <a:ext cx="463296" cy="4632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19200" y="329184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Personalization Before Planning</a:t>
            </a:r>
            <a:endParaRPr lang="en-US" sz="1467" dirty="0"/>
          </a:p>
        </p:txBody>
      </p:sp>
      <p:sp>
        <p:nvSpPr>
          <p:cNvPr id="20" name="Text 15"/>
          <p:cNvSpPr/>
          <p:nvPr/>
        </p:nvSpPr>
        <p:spPr>
          <a:xfrm>
            <a:off x="646176" y="381609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Mandatory collection of age, fitness goal, activity level, diet type &amp; medical history before any plan generation ensures truly personalized — not generic — recommendations.</a:t>
            </a:r>
            <a:endParaRPr lang="en-US" sz="1133" dirty="0"/>
          </a:p>
        </p:txBody>
      </p:sp>
      <p:sp>
        <p:nvSpPr>
          <p:cNvPr id="21" name="Shape 16"/>
          <p:cNvSpPr/>
          <p:nvPr/>
        </p:nvSpPr>
        <p:spPr>
          <a:xfrm>
            <a:off x="6339840" y="310896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2" name="Shape 17"/>
          <p:cNvSpPr/>
          <p:nvPr/>
        </p:nvSpPr>
        <p:spPr>
          <a:xfrm>
            <a:off x="6339840" y="3108960"/>
            <a:ext cx="73152" cy="1463040"/>
          </a:xfrm>
          <a:prstGeom prst="rect">
            <a:avLst/>
          </a:prstGeom>
          <a:solidFill>
            <a:srgbClr val="90E0E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296" y="3328416"/>
            <a:ext cx="463296" cy="4632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329184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100% IBM Cloud Lite (Free)</a:t>
            </a:r>
            <a:endParaRPr lang="en-US" sz="1467" dirty="0"/>
          </a:p>
        </p:txBody>
      </p:sp>
      <p:sp>
        <p:nvSpPr>
          <p:cNvPr id="25" name="Text 19"/>
          <p:cNvSpPr/>
          <p:nvPr/>
        </p:nvSpPr>
        <p:spPr>
          <a:xfrm>
            <a:off x="6559296" y="381609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Entire solution runs on IBM Cloud Lite free tier — zero infrastructure cost. Makes it accessible for students &amp; resource-constrained users while leveraging enterprise-grade AI.</a:t>
            </a:r>
            <a:endParaRPr lang="en-US" sz="1133" dirty="0"/>
          </a:p>
        </p:txBody>
      </p:sp>
      <p:sp>
        <p:nvSpPr>
          <p:cNvPr id="26" name="Shape 20"/>
          <p:cNvSpPr/>
          <p:nvPr/>
        </p:nvSpPr>
        <p:spPr>
          <a:xfrm>
            <a:off x="426720" y="475488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Shape 21"/>
          <p:cNvSpPr/>
          <p:nvPr/>
        </p:nvSpPr>
        <p:spPr>
          <a:xfrm>
            <a:off x="426720" y="4754880"/>
            <a:ext cx="73152" cy="1463040"/>
          </a:xfrm>
          <a:prstGeom prst="rect">
            <a:avLst/>
          </a:prstGeom>
          <a:solidFill>
            <a:srgbClr val="FFD166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6176" y="4974336"/>
            <a:ext cx="463296" cy="46329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19200" y="493776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Zero-Install Web Deployment</a:t>
            </a:r>
            <a:endParaRPr lang="en-US" sz="1467" dirty="0"/>
          </a:p>
        </p:txBody>
      </p:sp>
      <p:sp>
        <p:nvSpPr>
          <p:cNvPr id="30" name="Text 23"/>
          <p:cNvSpPr/>
          <p:nvPr/>
        </p:nvSpPr>
        <p:spPr>
          <a:xfrm>
            <a:off x="646176" y="546201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No app to install, no account required. A simple HTML web page with the watsonx embed script gives instant access to the AI coach from any browser on any device.</a:t>
            </a:r>
            <a:endParaRPr lang="en-US" sz="1133" dirty="0"/>
          </a:p>
        </p:txBody>
      </p:sp>
      <p:sp>
        <p:nvSpPr>
          <p:cNvPr id="31" name="Shape 24"/>
          <p:cNvSpPr/>
          <p:nvPr/>
        </p:nvSpPr>
        <p:spPr>
          <a:xfrm>
            <a:off x="6339840" y="4754880"/>
            <a:ext cx="5608320" cy="146304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2" name="Shape 25"/>
          <p:cNvSpPr/>
          <p:nvPr/>
        </p:nvSpPr>
        <p:spPr>
          <a:xfrm>
            <a:off x="6339840" y="4754880"/>
            <a:ext cx="73152" cy="1463040"/>
          </a:xfrm>
          <a:prstGeom prst="rect">
            <a:avLst/>
          </a:prstGeom>
          <a:solidFill>
            <a:srgbClr val="FF6B35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296" y="4974336"/>
            <a:ext cx="463296" cy="4632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32320" y="4937760"/>
            <a:ext cx="4632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Responsible AI for Health Domain</a:t>
            </a:r>
            <a:endParaRPr lang="en-US" sz="1467" dirty="0"/>
          </a:p>
        </p:txBody>
      </p:sp>
      <p:sp>
        <p:nvSpPr>
          <p:cNvPr id="35" name="Text 27"/>
          <p:cNvSpPr/>
          <p:nvPr/>
        </p:nvSpPr>
        <p:spPr>
          <a:xfrm>
            <a:off x="6559296" y="5462016"/>
            <a:ext cx="5218176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Applies IBM's AI ethics framework to a sensitive health domain. Clear boundaries between fitness coaching and medical advice protect users while building trust in AI tools.</a:t>
            </a:r>
            <a:endParaRPr lang="en-US" sz="113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1950720" cy="39014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19507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GITHUB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GitHub Repository &amp; Project Files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63040"/>
            <a:ext cx="11338560" cy="121920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63040"/>
            <a:ext cx="73152" cy="1219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8" name="Text 6"/>
          <p:cNvSpPr/>
          <p:nvPr/>
        </p:nvSpPr>
        <p:spPr>
          <a:xfrm>
            <a:off x="670560" y="1548384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8AADCA"/>
                </a:solidFill>
              </a:rPr>
              <a:t>Repository Name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0560" y="1853184"/>
            <a:ext cx="4876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fitness-buddy-ibm-watsonx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0" y="1548384"/>
            <a:ext cx="1828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🔗 GitHub URL:</a:t>
            </a:r>
            <a:endParaRPr lang="en-US" sz="12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6096000" y="1853184"/>
            <a:ext cx="54864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u="sng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https://github.com/AnshuRaj1201/FItness_Buddy.git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426720" y="2865120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chemeClr val="tx1"/>
                </a:solidFill>
              </a:rPr>
              <a:t>📁  Required Files Checklist</a:t>
            </a:r>
            <a:endParaRPr lang="en-US" sz="1867" dirty="0">
              <a:solidFill>
                <a:schemeClr val="tx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720" y="3474720"/>
            <a:ext cx="11338560" cy="7071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74720"/>
            <a:ext cx="548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/>
              <a:t>✅</a:t>
            </a:r>
          </a:p>
        </p:txBody>
      </p:sp>
      <p:sp>
        <p:nvSpPr>
          <p:cNvPr id="15" name="Text 13"/>
          <p:cNvSpPr/>
          <p:nvPr/>
        </p:nvSpPr>
        <p:spPr>
          <a:xfrm>
            <a:off x="1219200" y="353568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buddy.html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1219200" y="3840480"/>
            <a:ext cx="1024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Frontend web page with watsonx Orchestrate web chat embed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720" y="4267200"/>
            <a:ext cx="11338560" cy="7071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267200"/>
            <a:ext cx="548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/>
              <a:t>✅</a:t>
            </a:r>
          </a:p>
        </p:txBody>
      </p:sp>
      <p:sp>
        <p:nvSpPr>
          <p:cNvPr id="19" name="Text 17"/>
          <p:cNvSpPr/>
          <p:nvPr/>
        </p:nvSpPr>
        <p:spPr>
          <a:xfrm>
            <a:off x="1219200" y="432816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fitness-buddy-Submission.pptx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219200" y="4632960"/>
            <a:ext cx="1024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This project submission presentation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6720" y="5059680"/>
            <a:ext cx="11338560" cy="7071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059680"/>
            <a:ext cx="548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/>
              <a:t>✅</a:t>
            </a:r>
          </a:p>
        </p:txBody>
      </p:sp>
      <p:sp>
        <p:nvSpPr>
          <p:cNvPr id="23" name="Text 21"/>
          <p:cNvSpPr/>
          <p:nvPr/>
        </p:nvSpPr>
        <p:spPr>
          <a:xfrm>
            <a:off x="1219200" y="512064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1219200" y="5425440"/>
            <a:ext cx="1024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Project description, setup instructions &amp; demo screenshots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6720" y="5852160"/>
            <a:ext cx="11338560" cy="707136"/>
          </a:xfrm>
          <a:prstGeom prst="rect">
            <a:avLst/>
          </a:prstGeom>
          <a:solidFill>
            <a:srgbClr val="16223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5852160"/>
            <a:ext cx="5486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/>
              <a:t>✅</a:t>
            </a:r>
          </a:p>
        </p:txBody>
      </p:sp>
      <p:sp>
        <p:nvSpPr>
          <p:cNvPr id="27" name="Text 25"/>
          <p:cNvSpPr/>
          <p:nvPr/>
        </p:nvSpPr>
        <p:spPr>
          <a:xfrm>
            <a:off x="1219200" y="591312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Fitness Buddy SS.pdf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1219200" y="6217920"/>
            <a:ext cx="102412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ADCA"/>
                </a:solidFill>
              </a:rPr>
              <a:t>Demo screenshots of the working agent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" name="Shape 1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4" name="Text 2"/>
          <p:cNvSpPr/>
          <p:nvPr/>
        </p:nvSpPr>
        <p:spPr>
          <a:xfrm>
            <a:off x="426720" y="243840"/>
            <a:ext cx="21945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D1B2A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6720" y="694944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/>
                </a:solidFill>
              </a:rPr>
              <a:t>Roadmap for Enhancing Fitness Buddy</a:t>
            </a:r>
            <a:endParaRPr lang="en-US" sz="2933" dirty="0">
              <a:solidFill>
                <a:schemeClr val="tx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40208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426720" y="1402080"/>
            <a:ext cx="73152" cy="2316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Shape 6"/>
          <p:cNvSpPr/>
          <p:nvPr/>
        </p:nvSpPr>
        <p:spPr>
          <a:xfrm>
            <a:off x="3474720" y="1499616"/>
            <a:ext cx="548640" cy="26822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49961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2</a:t>
            </a:r>
            <a:endParaRPr lang="en-US" sz="933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" y="1670304"/>
            <a:ext cx="512064" cy="5120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67030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Wearable Integration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46176" y="235305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Connect with Apple Watch, Fitbit &amp; Samsung Health for real-time biometric data — steps, heart rate, calories — enabling dynamic workout adjustments.</a:t>
            </a:r>
            <a:endParaRPr lang="en-US" sz="1133" dirty="0"/>
          </a:p>
        </p:txBody>
      </p:sp>
      <p:sp>
        <p:nvSpPr>
          <p:cNvPr id="13" name="Shape 10"/>
          <p:cNvSpPr/>
          <p:nvPr/>
        </p:nvSpPr>
        <p:spPr>
          <a:xfrm>
            <a:off x="4352544" y="140208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4" name="Shape 11"/>
          <p:cNvSpPr/>
          <p:nvPr/>
        </p:nvSpPr>
        <p:spPr>
          <a:xfrm>
            <a:off x="4352544" y="1402080"/>
            <a:ext cx="73152" cy="2316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5" name="Shape 12"/>
          <p:cNvSpPr/>
          <p:nvPr/>
        </p:nvSpPr>
        <p:spPr>
          <a:xfrm>
            <a:off x="7400544" y="1499616"/>
            <a:ext cx="548640" cy="26822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3"/>
          <p:cNvSpPr/>
          <p:nvPr/>
        </p:nvSpPr>
        <p:spPr>
          <a:xfrm>
            <a:off x="7400544" y="149961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2</a:t>
            </a:r>
            <a:endParaRPr lang="en-US" sz="933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670304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05984" y="167030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Voice &amp; Multilingual</a:t>
            </a: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572000" y="235305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Add voice-enabled interaction via IBM Watson Speech-to-Text. Support 10+ languages for global accessibility.</a:t>
            </a:r>
            <a:endParaRPr lang="en-US" sz="1133" dirty="0"/>
          </a:p>
        </p:txBody>
      </p:sp>
      <p:sp>
        <p:nvSpPr>
          <p:cNvPr id="20" name="Shape 16"/>
          <p:cNvSpPr/>
          <p:nvPr/>
        </p:nvSpPr>
        <p:spPr>
          <a:xfrm>
            <a:off x="8278368" y="140208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1" name="Shape 17"/>
          <p:cNvSpPr/>
          <p:nvPr/>
        </p:nvSpPr>
        <p:spPr>
          <a:xfrm>
            <a:off x="8278368" y="1402080"/>
            <a:ext cx="73152" cy="23164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Shape 18"/>
          <p:cNvSpPr/>
          <p:nvPr/>
        </p:nvSpPr>
        <p:spPr>
          <a:xfrm>
            <a:off x="11326368" y="1499616"/>
            <a:ext cx="548640" cy="26822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3" name="Text 19"/>
          <p:cNvSpPr/>
          <p:nvPr/>
        </p:nvSpPr>
        <p:spPr>
          <a:xfrm>
            <a:off x="11326368" y="149961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3</a:t>
            </a:r>
            <a:endParaRPr lang="en-US" sz="933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824" y="1670304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31808" y="167030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Progress Dashboard</a:t>
            </a: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8497824" y="235305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Visual dashboard (IBM Cognos / React) showing weekly workout completion, calorie trends, habit streaks &amp; goal progress.</a:t>
            </a:r>
            <a:endParaRPr lang="en-US" sz="1133" dirty="0"/>
          </a:p>
        </p:txBody>
      </p:sp>
      <p:sp>
        <p:nvSpPr>
          <p:cNvPr id="27" name="Shape 22"/>
          <p:cNvSpPr/>
          <p:nvPr/>
        </p:nvSpPr>
        <p:spPr>
          <a:xfrm>
            <a:off x="426720" y="390144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8" name="Shape 23"/>
          <p:cNvSpPr/>
          <p:nvPr/>
        </p:nvSpPr>
        <p:spPr>
          <a:xfrm>
            <a:off x="426720" y="3901440"/>
            <a:ext cx="73152" cy="23164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Shape 24"/>
          <p:cNvSpPr/>
          <p:nvPr/>
        </p:nvSpPr>
        <p:spPr>
          <a:xfrm>
            <a:off x="3474720" y="3998976"/>
            <a:ext cx="548640" cy="26822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5"/>
          <p:cNvSpPr/>
          <p:nvPr/>
        </p:nvSpPr>
        <p:spPr>
          <a:xfrm>
            <a:off x="3474720" y="399897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3</a:t>
            </a:r>
            <a:endParaRPr lang="en-US" sz="933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176" y="4169664"/>
            <a:ext cx="512064" cy="51206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280160" y="416966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RAG Nutrition Knowledge Base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46176" y="485241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Retrieval-Augmented Generation pipeline with USDA/WHO databases stored in IBM Cloud Object Storage for evidence-based dietary advice.</a:t>
            </a:r>
            <a:endParaRPr lang="en-US" sz="1133" dirty="0"/>
          </a:p>
        </p:txBody>
      </p:sp>
      <p:sp>
        <p:nvSpPr>
          <p:cNvPr id="34" name="Shape 28"/>
          <p:cNvSpPr/>
          <p:nvPr/>
        </p:nvSpPr>
        <p:spPr>
          <a:xfrm>
            <a:off x="4352544" y="390144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Shape 29"/>
          <p:cNvSpPr/>
          <p:nvPr/>
        </p:nvSpPr>
        <p:spPr>
          <a:xfrm>
            <a:off x="4352544" y="3901440"/>
            <a:ext cx="73152" cy="231648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6" name="Shape 30"/>
          <p:cNvSpPr/>
          <p:nvPr/>
        </p:nvSpPr>
        <p:spPr>
          <a:xfrm>
            <a:off x="7400544" y="3998976"/>
            <a:ext cx="548640" cy="268224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7" name="Text 31"/>
          <p:cNvSpPr/>
          <p:nvPr/>
        </p:nvSpPr>
        <p:spPr>
          <a:xfrm>
            <a:off x="7400544" y="399897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4</a:t>
            </a:r>
            <a:endParaRPr lang="en-US" sz="933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169664"/>
            <a:ext cx="512064" cy="51206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205984" y="416966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Healthcare Integration</a:t>
            </a: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4572000" y="485241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Partner with healthcare APIs so doctors can set fitness boundaries for patients with chronic conditions.</a:t>
            </a:r>
            <a:endParaRPr lang="en-US" sz="1133" dirty="0"/>
          </a:p>
        </p:txBody>
      </p:sp>
      <p:sp>
        <p:nvSpPr>
          <p:cNvPr id="41" name="Shape 34"/>
          <p:cNvSpPr/>
          <p:nvPr/>
        </p:nvSpPr>
        <p:spPr>
          <a:xfrm>
            <a:off x="8278368" y="3901440"/>
            <a:ext cx="3657600" cy="2316480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42" name="Shape 35"/>
          <p:cNvSpPr/>
          <p:nvPr/>
        </p:nvSpPr>
        <p:spPr>
          <a:xfrm>
            <a:off x="8278368" y="3901440"/>
            <a:ext cx="73152" cy="2316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3" name="Shape 36"/>
          <p:cNvSpPr/>
          <p:nvPr/>
        </p:nvSpPr>
        <p:spPr>
          <a:xfrm>
            <a:off x="11326368" y="3998976"/>
            <a:ext cx="548640" cy="26822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4" name="Text 37"/>
          <p:cNvSpPr/>
          <p:nvPr/>
        </p:nvSpPr>
        <p:spPr>
          <a:xfrm>
            <a:off x="11326368" y="3998976"/>
            <a:ext cx="54864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33" b="1" dirty="0">
                <a:solidFill>
                  <a:srgbClr val="0D1B2A"/>
                </a:solidFill>
              </a:rPr>
              <a:t>Phase 4</a:t>
            </a:r>
            <a:endParaRPr lang="en-US" sz="933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7824" y="4169664"/>
            <a:ext cx="512064" cy="51206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9131808" y="4169664"/>
            <a:ext cx="268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</a:rPr>
              <a:t>Multi-Agent Specialization</a:t>
            </a: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8497824" y="4852416"/>
            <a:ext cx="331622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dirty="0">
                <a:solidFill>
                  <a:srgbClr val="8AADCA"/>
                </a:solidFill>
              </a:rPr>
              <a:t>Evolve to multi-agent architecture with dedicated agents for workout planning, nutrition, mental wellness &amp; progress tracking.</a:t>
            </a:r>
            <a:endParaRPr lang="en-US" sz="1133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</TotalTime>
  <Words>1278</Words>
  <Application>Microsoft Office PowerPoint</Application>
  <PresentationFormat>Widescreen</PresentationFormat>
  <Paragraphs>225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Anshu Raj</cp:lastModifiedBy>
  <cp:revision>24</cp:revision>
  <dcterms:created xsi:type="dcterms:W3CDTF">2025-07-08T05:06:56Z</dcterms:created>
  <dcterms:modified xsi:type="dcterms:W3CDTF">2026-06-04T07:55:00Z</dcterms:modified>
</cp:coreProperties>
</file>